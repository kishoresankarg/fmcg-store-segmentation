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0260C10-7644-9B0F-208A-1ACCABB1B573}">
          <p14:sldIdLst>
            <p14:sldId id="256"/>
            <p14:sldId id="257"/>
            <p14:sldId id="258"/>
          </p14:sldIdLst>
        </p14:section>
        <p14:section name="Data and Method" id="{FA5BCF83-2F6C-8CF3-F6CA-8B141519A185}">
          <p14:sldIdLst>
            <p14:sldId id="259"/>
            <p14:sldId id="260"/>
            <p14:sldId id="261"/>
            <p14:sldId id="262"/>
          </p14:sldIdLst>
        </p14:section>
        <p14:section name="Results" id="{28E91FF9-4A63-790B-1A94-006AE2D01D5C}">
          <p14:sldIdLst>
            <p14:sldId id="263"/>
            <p14:sldId id="264"/>
            <p14:sldId id="265"/>
            <p14:sldId id="266"/>
          </p14:sldIdLst>
        </p14:section>
        <p14:section name="Wrap-up" id="{15E714C8-F6D2-B137-AAF7-239D1810F555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B1F3A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0B1F3A"/>
                </a:solidFill>
                <a:latin typeface="+mn-lt"/>
              </a:rPr>
              <a:t>Distribution of Stores by Format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stores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LS</c:v>
                </c:pt>
                <c:pt idx="1">
                  <c:v>MS</c:v>
                </c:pt>
                <c:pt idx="2">
                  <c:v>SS</c:v>
                </c:pt>
                <c:pt idx="3">
                  <c:v>XLS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330</c:v>
                </c:pt>
                <c:pt idx="1">
                  <c:v>236</c:v>
                </c:pt>
                <c:pt idx="2">
                  <c:v>167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CF-4906-9FC3-7E164C25D9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08-4643-9ADB-3FF17F58DAAB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08-4643-9ADB-3FF17F58DAAB}"/>
              </c:ext>
            </c:extLst>
          </c:dPt>
          <c:dLbls>
            <c:dLbl>
              <c:idx val="0"/>
              <c:numFmt formatCode="0.0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08-4643-9ADB-3FF17F58DAAB}"/>
                </c:ext>
              </c:extLst>
            </c:dLbl>
            <c:dLbl>
              <c:idx val="1"/>
              <c:numFmt formatCode="0.0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08-4643-9ADB-3FF17F58DAAB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Larger-Spend Stores</c:v>
                </c:pt>
                <c:pt idx="1">
                  <c:v>Smaller-Spend Stores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622</c:v>
                </c:pt>
                <c:pt idx="1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08-4643-9ADB-3FF17F58D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F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B1F3A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0B1F3A"/>
                </a:solidFill>
                <a:latin typeface="+mn-lt"/>
              </a:rPr>
              <a:t>Median store-level average weekly spend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avg weekly spend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E5-42C6-8E4C-DC81744F3501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E5-42C6-8E4C-DC81744F350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Smaller-Spend Stores</c:v>
                </c:pt>
                <c:pt idx="1">
                  <c:v>Larger-Spend Stores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142.16999999999999</c:v>
                </c:pt>
                <c:pt idx="1">
                  <c:v>751.51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E5-42C6-8E4C-DC81744F35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B1F3A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0B1F3A"/>
                </a:solidFill>
                <a:latin typeface="+mn-lt"/>
              </a:rPr>
              <a:t>Median relative weekly spend volatility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relative weekly volatility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CF-4E29-AA80-B2BE09BC0884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CF-4E29-AA80-B2BE09BC088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Smaller-Spend Stores</c:v>
                </c:pt>
                <c:pt idx="1">
                  <c:v>Larger-Spend Stores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0.33</c:v>
                </c:pt>
                <c:pt idx="1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CF-4E29-AA80-B2BE09BC08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82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5156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880360"/>
            <a:ext cx="4846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Tailwyndz Propel · Internship Assessment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Tailwyndz Propel · Internship Assessment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TAILWYNDZ PROPEL · INTERNSHIP ASSESSMENT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51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FMCG Retail Store Segmentation Using Clustering</a:t>
            </a:r>
            <a:endParaRPr lang="en-US" sz="3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880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Identifying store-level sales patterns through unsupervised machine learning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Prepared by: </a:t>
            </a:r>
            <a:r>
              <a:rPr lang="en-US" sz="1300" b="1" dirty="0">
                <a:solidFill>
                  <a:schemeClr val="bg1"/>
                </a:solidFill>
              </a:rPr>
              <a:t>Kishore Sankar 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Department: </a:t>
            </a:r>
            <a:r>
              <a:rPr lang="en-US" sz="1300" b="1" dirty="0">
                <a:solidFill>
                  <a:schemeClr val="bg1"/>
                </a:solidFill>
              </a:rPr>
              <a:t>Computer Science and Engineering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Institution: </a:t>
            </a:r>
            <a:r>
              <a:rPr lang="en-US" sz="1300" b="1" dirty="0">
                <a:solidFill>
                  <a:schemeClr val="bg1"/>
                </a:solidFill>
              </a:rPr>
              <a:t>Kongu Engineering College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</p:txBody>
      </p:sp>
      <p:sp>
        <p:nvSpPr>
          <p:cNvPr id="6" name="Cluster dot"/>
          <p:cNvSpPr/>
          <p:nvPr/>
        </p:nvSpPr>
        <p:spPr>
          <a:xfrm>
            <a:off x="8140239" y="2932761"/>
            <a:ext cx="170333" cy="170333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7" name="Cluster dot"/>
          <p:cNvSpPr/>
          <p:nvPr/>
        </p:nvSpPr>
        <p:spPr>
          <a:xfrm>
            <a:off x="7196588" y="3936564"/>
            <a:ext cx="205954" cy="205954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8" name="Cluster dot"/>
          <p:cNvSpPr/>
          <p:nvPr/>
        </p:nvSpPr>
        <p:spPr>
          <a:xfrm>
            <a:off x="6410026" y="3838630"/>
            <a:ext cx="238486" cy="238486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9" name="Cluster dot"/>
          <p:cNvSpPr/>
          <p:nvPr/>
        </p:nvSpPr>
        <p:spPr>
          <a:xfrm>
            <a:off x="5945801" y="2635427"/>
            <a:ext cx="221053" cy="221053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0" name="Cluster dot"/>
          <p:cNvSpPr/>
          <p:nvPr/>
        </p:nvSpPr>
        <p:spPr>
          <a:xfrm>
            <a:off x="7196728" y="2371471"/>
            <a:ext cx="182768" cy="182768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1" name="Cluster dot"/>
          <p:cNvSpPr/>
          <p:nvPr/>
        </p:nvSpPr>
        <p:spPr>
          <a:xfrm>
            <a:off x="6703160" y="1954113"/>
            <a:ext cx="135900" cy="13590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2" name="Cluster dot"/>
          <p:cNvSpPr/>
          <p:nvPr/>
        </p:nvSpPr>
        <p:spPr>
          <a:xfrm>
            <a:off x="6568648" y="2113450"/>
            <a:ext cx="262967" cy="262967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3" name="Cluster dot"/>
          <p:cNvSpPr/>
          <p:nvPr/>
        </p:nvSpPr>
        <p:spPr>
          <a:xfrm>
            <a:off x="7091979" y="2511154"/>
            <a:ext cx="203078" cy="203078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4" name="Cluster dot"/>
          <p:cNvSpPr/>
          <p:nvPr/>
        </p:nvSpPr>
        <p:spPr>
          <a:xfrm>
            <a:off x="7836934" y="2430775"/>
            <a:ext cx="222200" cy="22220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5" name="Cluster dot"/>
          <p:cNvSpPr/>
          <p:nvPr/>
        </p:nvSpPr>
        <p:spPr>
          <a:xfrm>
            <a:off x="5868288" y="2335988"/>
            <a:ext cx="260909" cy="260909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6" name="Cluster dot"/>
          <p:cNvSpPr/>
          <p:nvPr/>
        </p:nvSpPr>
        <p:spPr>
          <a:xfrm>
            <a:off x="6418982" y="3406485"/>
            <a:ext cx="250497" cy="250497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7" name="Cluster dot"/>
          <p:cNvSpPr/>
          <p:nvPr/>
        </p:nvSpPr>
        <p:spPr>
          <a:xfrm>
            <a:off x="6716879" y="3350963"/>
            <a:ext cx="171562" cy="171562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8" name="Cluster dot"/>
          <p:cNvSpPr/>
          <p:nvPr/>
        </p:nvSpPr>
        <p:spPr>
          <a:xfrm>
            <a:off x="6304573" y="3176227"/>
            <a:ext cx="265141" cy="265141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9" name="Cluster dot"/>
          <p:cNvSpPr/>
          <p:nvPr/>
        </p:nvSpPr>
        <p:spPr>
          <a:xfrm>
            <a:off x="5926188" y="2517572"/>
            <a:ext cx="256449" cy="256449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0" name="Cluster dot"/>
          <p:cNvSpPr/>
          <p:nvPr/>
        </p:nvSpPr>
        <p:spPr>
          <a:xfrm>
            <a:off x="7538130" y="3144941"/>
            <a:ext cx="210038" cy="210038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1" name="Cluster dot"/>
          <p:cNvSpPr/>
          <p:nvPr/>
        </p:nvSpPr>
        <p:spPr>
          <a:xfrm>
            <a:off x="6162596" y="2895179"/>
            <a:ext cx="156245" cy="156245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2" name="Cluster dot"/>
          <p:cNvSpPr/>
          <p:nvPr/>
        </p:nvSpPr>
        <p:spPr>
          <a:xfrm>
            <a:off x="7193270" y="2770206"/>
            <a:ext cx="181485" cy="181485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3" name="Cluster dot"/>
          <p:cNvSpPr/>
          <p:nvPr/>
        </p:nvSpPr>
        <p:spPr>
          <a:xfrm>
            <a:off x="6348327" y="3721259"/>
            <a:ext cx="263252" cy="263252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4" name="Cluster dot"/>
          <p:cNvSpPr/>
          <p:nvPr/>
        </p:nvSpPr>
        <p:spPr>
          <a:xfrm>
            <a:off x="6447114" y="2877076"/>
            <a:ext cx="187360" cy="18736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5" name="Cluster dot"/>
          <p:cNvSpPr/>
          <p:nvPr/>
        </p:nvSpPr>
        <p:spPr>
          <a:xfrm>
            <a:off x="6789761" y="3651202"/>
            <a:ext cx="190042" cy="190042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6" name="Cluster dot"/>
          <p:cNvSpPr/>
          <p:nvPr/>
        </p:nvSpPr>
        <p:spPr>
          <a:xfrm>
            <a:off x="6485691" y="3690269"/>
            <a:ext cx="217853" cy="217853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7" name="Cluster dot"/>
          <p:cNvSpPr/>
          <p:nvPr/>
        </p:nvSpPr>
        <p:spPr>
          <a:xfrm>
            <a:off x="7067039" y="4088808"/>
            <a:ext cx="194999" cy="194999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8" name="Cluster dot"/>
          <p:cNvSpPr/>
          <p:nvPr/>
        </p:nvSpPr>
        <p:spPr>
          <a:xfrm>
            <a:off x="7571669" y="2160985"/>
            <a:ext cx="220824" cy="220824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9" name="Cluster dot"/>
          <p:cNvSpPr/>
          <p:nvPr/>
        </p:nvSpPr>
        <p:spPr>
          <a:xfrm>
            <a:off x="6053836" y="2813822"/>
            <a:ext cx="228819" cy="228819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0" name="Cluster dot"/>
          <p:cNvSpPr/>
          <p:nvPr/>
        </p:nvSpPr>
        <p:spPr>
          <a:xfrm>
            <a:off x="7647165" y="2613412"/>
            <a:ext cx="231633" cy="231633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1" name="Cluster dot"/>
          <p:cNvSpPr/>
          <p:nvPr/>
        </p:nvSpPr>
        <p:spPr>
          <a:xfrm>
            <a:off x="6944610" y="3873507"/>
            <a:ext cx="179308" cy="179308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2" name="Cluster dot"/>
          <p:cNvSpPr/>
          <p:nvPr/>
        </p:nvSpPr>
        <p:spPr>
          <a:xfrm>
            <a:off x="6544161" y="3570783"/>
            <a:ext cx="244287" cy="244287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3" name="Cluster dot"/>
          <p:cNvSpPr/>
          <p:nvPr/>
        </p:nvSpPr>
        <p:spPr>
          <a:xfrm>
            <a:off x="7212449" y="2607340"/>
            <a:ext cx="247866" cy="247866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4" name="Cluster dot"/>
          <p:cNvSpPr/>
          <p:nvPr/>
        </p:nvSpPr>
        <p:spPr>
          <a:xfrm>
            <a:off x="7660935" y="3311693"/>
            <a:ext cx="150484" cy="150484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5" name="Cluster dot"/>
          <p:cNvSpPr/>
          <p:nvPr/>
        </p:nvSpPr>
        <p:spPr>
          <a:xfrm>
            <a:off x="8048276" y="3516562"/>
            <a:ext cx="160204" cy="160204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6" name="Cluster dot"/>
          <p:cNvSpPr/>
          <p:nvPr/>
        </p:nvSpPr>
        <p:spPr>
          <a:xfrm>
            <a:off x="6627557" y="2573606"/>
            <a:ext cx="194893" cy="194893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7" name="Cluster dot"/>
          <p:cNvSpPr/>
          <p:nvPr/>
        </p:nvSpPr>
        <p:spPr>
          <a:xfrm>
            <a:off x="6527071" y="2633537"/>
            <a:ext cx="262889" cy="262889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8" name="Cluster dot"/>
          <p:cNvSpPr/>
          <p:nvPr/>
        </p:nvSpPr>
        <p:spPr>
          <a:xfrm>
            <a:off x="7783720" y="2115839"/>
            <a:ext cx="257527" cy="257527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9" name="Cluster dot"/>
          <p:cNvSpPr/>
          <p:nvPr/>
        </p:nvSpPr>
        <p:spPr>
          <a:xfrm>
            <a:off x="7857728" y="2343423"/>
            <a:ext cx="168311" cy="168311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0" name="Cluster dot"/>
          <p:cNvSpPr/>
          <p:nvPr/>
        </p:nvSpPr>
        <p:spPr>
          <a:xfrm>
            <a:off x="7585085" y="2988448"/>
            <a:ext cx="139141" cy="139141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1" name="Cluster dot"/>
          <p:cNvSpPr/>
          <p:nvPr/>
        </p:nvSpPr>
        <p:spPr>
          <a:xfrm>
            <a:off x="7929417" y="2946233"/>
            <a:ext cx="161867" cy="161867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2" name="Cluster dot"/>
          <p:cNvSpPr/>
          <p:nvPr/>
        </p:nvSpPr>
        <p:spPr>
          <a:xfrm>
            <a:off x="6878460" y="2041016"/>
            <a:ext cx="228604" cy="228604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3" name="Cluster dot"/>
          <p:cNvSpPr/>
          <p:nvPr/>
        </p:nvSpPr>
        <p:spPr>
          <a:xfrm>
            <a:off x="7046700" y="4092418"/>
            <a:ext cx="162421" cy="162421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4" name="Cluster dot"/>
          <p:cNvSpPr/>
          <p:nvPr/>
        </p:nvSpPr>
        <p:spPr>
          <a:xfrm>
            <a:off x="6148309" y="3775814"/>
            <a:ext cx="145334" cy="145334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5" name="Cluster dot"/>
          <p:cNvSpPr/>
          <p:nvPr/>
        </p:nvSpPr>
        <p:spPr>
          <a:xfrm>
            <a:off x="6842967" y="2891267"/>
            <a:ext cx="261590" cy="26159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6" name="Cluster dot"/>
          <p:cNvSpPr/>
          <p:nvPr/>
        </p:nvSpPr>
        <p:spPr>
          <a:xfrm>
            <a:off x="6202168" y="2053437"/>
            <a:ext cx="131088" cy="131088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7" name="Cluster dot"/>
          <p:cNvSpPr/>
          <p:nvPr/>
        </p:nvSpPr>
        <p:spPr>
          <a:xfrm>
            <a:off x="7339232" y="2568000"/>
            <a:ext cx="269746" cy="269746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8" name="Cluster dot"/>
          <p:cNvSpPr/>
          <p:nvPr/>
        </p:nvSpPr>
        <p:spPr>
          <a:xfrm>
            <a:off x="6024271" y="2528394"/>
            <a:ext cx="166973" cy="166973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9" name="Cluster dot"/>
          <p:cNvSpPr/>
          <p:nvPr/>
        </p:nvSpPr>
        <p:spPr>
          <a:xfrm>
            <a:off x="7031652" y="3468241"/>
            <a:ext cx="210592" cy="210592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50" name="Cluster dot"/>
          <p:cNvSpPr/>
          <p:nvPr/>
        </p:nvSpPr>
        <p:spPr>
          <a:xfrm>
            <a:off x="7950390" y="3251990"/>
            <a:ext cx="230532" cy="230532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51" name="Cluster dot"/>
          <p:cNvSpPr/>
          <p:nvPr/>
        </p:nvSpPr>
        <p:spPr>
          <a:xfrm>
            <a:off x="6779372" y="2101946"/>
            <a:ext cx="132805" cy="132805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52" name="Cluster dot"/>
          <p:cNvSpPr/>
          <p:nvPr/>
        </p:nvSpPr>
        <p:spPr>
          <a:xfrm>
            <a:off x="8262323" y="1552902"/>
            <a:ext cx="147147" cy="147147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53" name="Cluster dot"/>
          <p:cNvSpPr/>
          <p:nvPr/>
        </p:nvSpPr>
        <p:spPr>
          <a:xfrm>
            <a:off x="7566845" y="608394"/>
            <a:ext cx="133438" cy="133438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54" name="Cluster dot"/>
          <p:cNvSpPr/>
          <p:nvPr/>
        </p:nvSpPr>
        <p:spPr>
          <a:xfrm>
            <a:off x="8168123" y="699689"/>
            <a:ext cx="273258" cy="273258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55" name="Cluster dot"/>
          <p:cNvSpPr/>
          <p:nvPr/>
        </p:nvSpPr>
        <p:spPr>
          <a:xfrm>
            <a:off x="8305980" y="981069"/>
            <a:ext cx="189405" cy="189405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56" name="Cluster dot"/>
          <p:cNvSpPr/>
          <p:nvPr/>
        </p:nvSpPr>
        <p:spPr>
          <a:xfrm>
            <a:off x="7741449" y="1651871"/>
            <a:ext cx="257088" cy="257088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57" name="Cluster dot"/>
          <p:cNvSpPr/>
          <p:nvPr/>
        </p:nvSpPr>
        <p:spPr>
          <a:xfrm>
            <a:off x="7521293" y="1325787"/>
            <a:ext cx="187252" cy="187252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58" name="Cluster dot"/>
          <p:cNvSpPr/>
          <p:nvPr/>
        </p:nvSpPr>
        <p:spPr>
          <a:xfrm>
            <a:off x="8136895" y="832748"/>
            <a:ext cx="179433" cy="179433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59" name="Cluster dot"/>
          <p:cNvSpPr/>
          <p:nvPr/>
        </p:nvSpPr>
        <p:spPr>
          <a:xfrm>
            <a:off x="7378869" y="766569"/>
            <a:ext cx="177031" cy="177031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60" name="Cluster dot"/>
          <p:cNvSpPr/>
          <p:nvPr/>
        </p:nvSpPr>
        <p:spPr>
          <a:xfrm>
            <a:off x="7720657" y="744777"/>
            <a:ext cx="157076" cy="157076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61" name="Cluster dot"/>
          <p:cNvSpPr/>
          <p:nvPr/>
        </p:nvSpPr>
        <p:spPr>
          <a:xfrm>
            <a:off x="7486879" y="1685963"/>
            <a:ext cx="273464" cy="273464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62" name="Cluster dot"/>
          <p:cNvSpPr/>
          <p:nvPr/>
        </p:nvSpPr>
        <p:spPr>
          <a:xfrm>
            <a:off x="7330034" y="661401"/>
            <a:ext cx="262370" cy="262370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63" name="Cluster dot"/>
          <p:cNvSpPr/>
          <p:nvPr/>
        </p:nvSpPr>
        <p:spPr>
          <a:xfrm>
            <a:off x="7950243" y="1649041"/>
            <a:ext cx="147824" cy="147824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119"/>
    </mc:Choice>
    <mc:Fallback>
      <p:transition spd="slow" advTm="281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Objective: </a:t>
            </a:r>
            <a:r>
              <a:rPr lang="en-US" sz="1400" dirty="0">
                <a:solidFill>
                  <a:schemeClr val="tx1"/>
                </a:solidFill>
              </a:rPr>
              <a:t>Segment retail stores based on their observed sales behaviour using clustering techniques.</a:t>
            </a:r>
            <a:endParaRPr lang="en-US" sz="1400" dirty="0"/>
          </a:p>
        </p:txBody>
      </p:sp>
      <p:sp>
        <p:nvSpPr>
          <p:cNvPr id="4" name="Findings card"/>
          <p:cNvSpPr/>
          <p:nvPr/>
        </p:nvSpPr>
        <p:spPr>
          <a:xfrm>
            <a:off x="457200" y="1645920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EA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55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findings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Analyzed transaction data covering 761 unique stores.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Developed store-level features related to sales scale, weekly volatility, growth and data coverage.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Compared K-Means and Agglomerative Clustering.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Selected a two-segment K-Means solution for an interpretable high-level segmentation.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Generated segment assignments, profiles and business recommendations.</a:t>
            </a:r>
            <a:endParaRPr lang="en-US" sz="1400" dirty="0"/>
          </a:p>
        </p:txBody>
      </p:sp>
      <p:sp>
        <p:nvSpPr>
          <p:cNvPr id="7" name="Stat stores"/>
          <p:cNvSpPr/>
          <p:nvPr/>
        </p:nvSpPr>
        <p:spPr>
          <a:xfrm>
            <a:off x="5943600" y="16459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EAF1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stores analyzed</a:t>
            </a:r>
            <a:endParaRPr lang="en-US" sz="1400" dirty="0"/>
          </a:p>
        </p:txBody>
      </p:sp>
      <p:sp>
        <p:nvSpPr>
          <p:cNvPr id="10" name="Stat segments"/>
          <p:cNvSpPr/>
          <p:nvPr/>
        </p:nvSpPr>
        <p:spPr>
          <a:xfrm>
            <a:off x="5943600" y="29260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EAF1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segments identified</a:t>
            </a:r>
            <a:endParaRPr lang="en-US" sz="1400" dirty="0"/>
          </a:p>
        </p:txBody>
      </p:sp>
      <p:sp>
        <p:nvSpPr>
          <p:cNvPr id="13" name="Main outcome"/>
          <p:cNvSpPr/>
          <p:nvPr/>
        </p:nvSpPr>
        <p:spPr>
          <a:xfrm>
            <a:off x="457200" y="422452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22452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Main outcome: </a:t>
            </a:r>
            <a:r>
              <a:rPr lang="en-US" sz="1400" dirty="0">
                <a:solidFill>
                  <a:schemeClr val="bg1"/>
                </a:solidFill>
              </a:rPr>
              <a:t>Two groups were identified: Larger-Spend Stores and Smaller-Spend Stores.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 and Objectives</a:t>
            </a:r>
            <a:endParaRPr lang="en-US" sz="30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4300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Retail stores differ in sales volume, demand consistency, store format and product-category mix. Treating every store identically may overlook these differences.</a:t>
            </a:r>
            <a:endParaRPr lang="en-US" sz="1400" dirty="0"/>
          </a:p>
        </p:txBody>
      </p:sp>
      <p:sp>
        <p:nvSpPr>
          <p:cNvPr id="6" name="Objectives card"/>
          <p:cNvSpPr/>
          <p:nvPr/>
        </p:nvSpPr>
        <p:spPr>
          <a:xfrm>
            <a:off x="4206240" y="1143000"/>
            <a:ext cx="4480560" cy="2697480"/>
          </a:xfrm>
          <a:prstGeom prst="roundRect">
            <a:avLst>
              <a:gd name="adj" fmla="val 2712"/>
            </a:avLst>
          </a:prstGeom>
          <a:solidFill>
            <a:srgbClr val="EAF1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8912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64592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Analyze historical retail transaction data.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Build meaningful store-level features from weekly sales.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Apply clustering algorithms to identify similar stores.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Evaluate the clustering results using internal validation metrics.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Translate the resulting segments into actionable business recommendations.</a:t>
            </a:r>
            <a:endParaRPr lang="en-US" sz="1400" dirty="0"/>
          </a:p>
        </p:txBody>
      </p:sp>
      <p:sp>
        <p:nvSpPr>
          <p:cNvPr id="9" name="Guiding question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Guiding question: </a:t>
            </a:r>
            <a:r>
              <a:rPr lang="en-US" sz="1400" dirty="0">
                <a:solidFill>
                  <a:schemeClr val="bg1"/>
                </a:solidFill>
              </a:rPr>
              <a:t>Can stores with similar sales behaviour be grouped without predefined labels?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Overview and Data Quality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Dataset overview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499014"/>
              </p:ext>
            </p:extLst>
          </p:nvPr>
        </p:nvGraphicFramePr>
        <p:xfrm>
          <a:off x="457200" y="1463040"/>
          <a:ext cx="4389120" cy="26334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Transaction CSV files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117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Transaction records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Approximately 31 million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Unique stores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761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Unique products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4,997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Product category groups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Regions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Observed date range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10 April 2006 – 6 July 2008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12064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 preparation and quality checks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4630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Inspected the input files, columns and date ranges.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Standardized the sales field used for spend aggregation.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Aggregated transactions into weekly store-level and category-level datasets.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Checked missing values and duplicate store/store-week records.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Verified that all 761 stores received final segment assignments.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 Workflow</a:t>
            </a:r>
            <a:endParaRPr lang="en-US" sz="3000" dirty="0"/>
          </a:p>
        </p:txBody>
      </p:sp>
      <p:sp>
        <p:nvSpPr>
          <p:cNvPr id="3" name="Flow connector"/>
          <p:cNvSpPr/>
          <p:nvPr/>
        </p:nvSpPr>
        <p:spPr>
          <a:xfrm>
            <a:off x="1120140" y="1463040"/>
            <a:ext cx="69037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</a:ln>
        </p:spPr>
      </p:sp>
      <p:sp>
        <p:nvSpPr>
          <p:cNvPr id="4" name="Stage card 1"/>
          <p:cNvSpPr/>
          <p:nvPr/>
        </p:nvSpPr>
        <p:spPr>
          <a:xfrm>
            <a:off x="457200" y="19659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5" name="Number 01"/>
          <p:cNvSpPr/>
          <p:nvPr/>
        </p:nvSpPr>
        <p:spPr>
          <a:xfrm>
            <a:off x="845820" y="1188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21208" y="21488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inspection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2834640"/>
            <a:ext cx="119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Inspect files and schemas</a:t>
            </a:r>
            <a:endParaRPr lang="en-US" sz="1400" dirty="0"/>
          </a:p>
        </p:txBody>
      </p:sp>
      <p:sp>
        <p:nvSpPr>
          <p:cNvPr id="8" name="Stage card 2"/>
          <p:cNvSpPr/>
          <p:nvPr/>
        </p:nvSpPr>
        <p:spPr>
          <a:xfrm>
            <a:off x="1837944" y="19659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9" name="Number 02"/>
          <p:cNvSpPr/>
          <p:nvPr/>
        </p:nvSpPr>
        <p:spPr>
          <a:xfrm>
            <a:off x="2226564" y="1188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21488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01952" y="2834640"/>
            <a:ext cx="119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Clean and aggregate transactions</a:t>
            </a:r>
            <a:endParaRPr lang="en-US" sz="1400" dirty="0"/>
          </a:p>
        </p:txBody>
      </p:sp>
      <p:sp>
        <p:nvSpPr>
          <p:cNvPr id="12" name="Stage card 3"/>
          <p:cNvSpPr/>
          <p:nvPr/>
        </p:nvSpPr>
        <p:spPr>
          <a:xfrm>
            <a:off x="3218688" y="19659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13" name="Number 03"/>
          <p:cNvSpPr/>
          <p:nvPr/>
        </p:nvSpPr>
        <p:spPr>
          <a:xfrm>
            <a:off x="3607308" y="1188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82696" y="21488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Feature engineering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82696" y="2834640"/>
            <a:ext cx="119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Create store-level features</a:t>
            </a:r>
            <a:endParaRPr lang="en-US" sz="1400" dirty="0"/>
          </a:p>
        </p:txBody>
      </p:sp>
      <p:sp>
        <p:nvSpPr>
          <p:cNvPr id="16" name="Stage card 4"/>
          <p:cNvSpPr/>
          <p:nvPr/>
        </p:nvSpPr>
        <p:spPr>
          <a:xfrm>
            <a:off x="4599432" y="19659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17" name="Number 04"/>
          <p:cNvSpPr/>
          <p:nvPr/>
        </p:nvSpPr>
        <p:spPr>
          <a:xfrm>
            <a:off x="4988052" y="11887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1488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Clustering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834640"/>
            <a:ext cx="119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Compare K-Means and Agglomerative</a:t>
            </a:r>
            <a:endParaRPr lang="en-US" sz="1400" dirty="0"/>
          </a:p>
        </p:txBody>
      </p:sp>
      <p:sp>
        <p:nvSpPr>
          <p:cNvPr id="20" name="Stage card 5"/>
          <p:cNvSpPr/>
          <p:nvPr/>
        </p:nvSpPr>
        <p:spPr>
          <a:xfrm>
            <a:off x="5980176" y="19659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21" name="Number 05"/>
          <p:cNvSpPr/>
          <p:nvPr/>
        </p:nvSpPr>
        <p:spPr>
          <a:xfrm>
            <a:off x="6368796" y="1188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044184" y="21488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044184" y="2834640"/>
            <a:ext cx="119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Measure quality and stability</a:t>
            </a:r>
            <a:endParaRPr lang="en-US" sz="1400" dirty="0"/>
          </a:p>
        </p:txBody>
      </p:sp>
      <p:sp>
        <p:nvSpPr>
          <p:cNvPr id="24" name="Stage card 6"/>
          <p:cNvSpPr/>
          <p:nvPr/>
        </p:nvSpPr>
        <p:spPr>
          <a:xfrm>
            <a:off x="7360920" y="19659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EAF1F8"/>
          </a:solidFill>
          <a:ln/>
        </p:spPr>
      </p:sp>
      <p:sp>
        <p:nvSpPr>
          <p:cNvPr id="25" name="Number 06"/>
          <p:cNvSpPr/>
          <p:nvPr/>
        </p:nvSpPr>
        <p:spPr>
          <a:xfrm>
            <a:off x="7749540" y="1188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24928" y="21488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Business insights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24928" y="2834640"/>
            <a:ext cx="119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Profile segments and recommend actions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Feature Engineering</a:t>
            </a:r>
            <a:endParaRPr lang="en-US" sz="30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</p:spPr>
      </p:sp>
      <p:sp>
        <p:nvSpPr>
          <p:cNvPr id="4" name="Number 1"/>
          <p:cNvSpPr/>
          <p:nvPr/>
        </p:nvSpPr>
        <p:spPr>
          <a:xfrm>
            <a:off x="594360" y="121615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16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Sales scale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642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spend and total units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Average weekly spend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weekly spend</a:t>
            </a:r>
            <a:endParaRPr lang="en-US" sz="1400" dirty="0"/>
          </a:p>
        </p:txBody>
      </p:sp>
      <p:sp>
        <p:nvSpPr>
          <p:cNvPr id="7" name="Feature card 2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</p:spPr>
      </p:sp>
      <p:sp>
        <p:nvSpPr>
          <p:cNvPr id="8" name="Number 2"/>
          <p:cNvSpPr/>
          <p:nvPr/>
        </p:nvSpPr>
        <p:spPr>
          <a:xfrm>
            <a:off x="4800600" y="121615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216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Sales consistency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642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Weekly spend volatility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Relative weekly spend volatility</a:t>
            </a:r>
            <a:endParaRPr lang="en-US" sz="1400" dirty="0"/>
          </a:p>
        </p:txBody>
      </p:sp>
      <p:sp>
        <p:nvSpPr>
          <p:cNvPr id="11" name="Feature card 3"/>
          <p:cNvSpPr/>
          <p:nvPr/>
        </p:nvSpPr>
        <p:spPr>
          <a:xfrm>
            <a:off x="457200" y="26060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</p:spPr>
      </p:sp>
      <p:sp>
        <p:nvSpPr>
          <p:cNvPr id="12" name="Number 3"/>
          <p:cNvSpPr/>
          <p:nvPr/>
        </p:nvSpPr>
        <p:spPr>
          <a:xfrm>
            <a:off x="594360" y="272491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Sales change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1729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Spend during the first 13 observed weeks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Spend during the last 13 observed weeks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Logarithmic spend change where valid</a:t>
            </a:r>
            <a:endParaRPr lang="en-US" sz="1400" dirty="0"/>
          </a:p>
        </p:txBody>
      </p:sp>
      <p:sp>
        <p:nvSpPr>
          <p:cNvPr id="15" name="Feature card 4"/>
          <p:cNvSpPr/>
          <p:nvPr/>
        </p:nvSpPr>
        <p:spPr>
          <a:xfrm>
            <a:off x="4663440" y="26060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</p:spPr>
      </p:sp>
      <p:sp>
        <p:nvSpPr>
          <p:cNvPr id="16" name="Number 4"/>
          <p:cNvSpPr/>
          <p:nvPr/>
        </p:nvSpPr>
        <p:spPr>
          <a:xfrm>
            <a:off x="4800600" y="272491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coverage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Number of observed weeks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 for zero spend in the starting period</a:t>
            </a:r>
            <a:endParaRPr lang="en-US" sz="1400" dirty="0"/>
          </a:p>
        </p:txBody>
      </p:sp>
      <p:sp>
        <p:nvSpPr>
          <p:cNvPr id="19" name="Feature note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Highly correlated features were identified during EDA. Features were scaled before K-Means to reduce the influence of differences in measurement units.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Exploratory Analysis: Store Formats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observations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5544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LS is the largest store-format group in the dataset.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SS and MS also account for substantial portions of the stores.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 format provides useful context when interpreting the segments.</a:t>
            </a:r>
            <a:endParaRPr lang="en-US" sz="1400" dirty="0"/>
          </a:p>
        </p:txBody>
      </p:sp>
      <p:sp>
        <p:nvSpPr>
          <p:cNvPr id="6" name="Takeaway card"/>
          <p:cNvSpPr/>
          <p:nvPr/>
        </p:nvSpPr>
        <p:spPr>
          <a:xfrm>
            <a:off x="5852160" y="352044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89320" y="352044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Chart takeaway: </a:t>
            </a:r>
            <a:r>
              <a:rPr lang="en-US" sz="1400" dirty="0">
                <a:solidFill>
                  <a:schemeClr val="bg1"/>
                </a:solidFill>
              </a:rPr>
              <a:t>a mix of formats enables comparing segment composition across formats.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Clustering Algorithms and Model Selection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K-Means and Agglomerative clustering were compared on silhouette score, Davies–Bouldin index and cluster-size distribution.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353039"/>
              </p:ext>
            </p:extLst>
          </p:nvPr>
        </p:nvGraphicFramePr>
        <p:xfrm>
          <a:off x="457200" y="1554480"/>
          <a:ext cx="8229600" cy="17373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Silhouette score ↑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Davies–Bouldin index ↓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K-Means, k = 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0.3248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</a:rPr>
                        <a:t>1.8196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K-Means, k = 3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0.3164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1.6044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Agglomerative, k = 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0.2910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2.0147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Agglomerative, k = 3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0.2940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1.7446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election card"/>
          <p:cNvSpPr/>
          <p:nvPr/>
        </p:nvSpPr>
        <p:spPr>
          <a:xfrm>
            <a:off x="457200" y="347472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EAF1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34747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 selection: </a:t>
            </a:r>
            <a:r>
              <a:rPr lang="en-US" sz="1400" dirty="0">
                <a:solidFill>
                  <a:schemeClr val="tx1"/>
                </a:solidFill>
              </a:rPr>
              <a:t>K-Means with k = 2 was chosen for a simple, interpretable solution. K-Means with k = 3 had a lower Davies–Bouldin index but produced a segment of only 30 stores.</a:t>
            </a:r>
            <a:endParaRPr lang="en-US" sz="1400" dirty="0"/>
          </a:p>
        </p:txBody>
      </p:sp>
      <p:sp>
        <p:nvSpPr>
          <p:cNvPr id="7" name="Balance card"/>
          <p:cNvSpPr/>
          <p:nvPr/>
        </p:nvSpPr>
        <p:spPr>
          <a:xfrm>
            <a:off x="5669280" y="34747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06440" y="3474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The selected solution balances interpretability, separation and practical usefulness rather than optimizing a single metric.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Final Store Segments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40233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Larger stat"/>
          <p:cNvSpPr/>
          <p:nvPr/>
        </p:nvSpPr>
        <p:spPr>
          <a:xfrm>
            <a:off x="4572000" y="118872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0" y="11887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622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Larger-Spend · 81.73%</a:t>
            </a:r>
            <a:endParaRPr lang="en-US" sz="1400" dirty="0"/>
          </a:p>
        </p:txBody>
      </p:sp>
      <p:sp>
        <p:nvSpPr>
          <p:cNvPr id="6" name="Smaller stat"/>
          <p:cNvSpPr/>
          <p:nvPr/>
        </p:nvSpPr>
        <p:spPr>
          <a:xfrm>
            <a:off x="6675120" y="118872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75120" y="11887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Smaller-Spend · 18.27%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5603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Larger-Spend segment contains most stores in the dataset.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Smaller-Spend segment is a smaller group with a distinct spend profile.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store received exactly one segment assignment (761 total).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Segment names describe observed spending scale, not profitability or overall store quality.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Understanding the Two Segments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4023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1051560"/>
          <a:ext cx="4023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Larger-Spend Stores have a substantially higher typical average weekly spend.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Smaller-Spend Stores show higher relative weekly spend volatility.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segments differ in both spending scale and relative consistency.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Business Recommendations</a:t>
            </a:r>
            <a:endParaRPr lang="en-US" sz="3000" dirty="0"/>
          </a:p>
        </p:txBody>
      </p:sp>
      <p:sp>
        <p:nvSpPr>
          <p:cNvPr id="3" name="Rec card 1"/>
          <p:cNvSpPr/>
          <p:nvPr/>
        </p:nvSpPr>
        <p:spPr>
          <a:xfrm>
            <a:off x="457200" y="10972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/>
        </p:spPr>
      </p:sp>
      <p:sp>
        <p:nvSpPr>
          <p:cNvPr id="4" name="Rec header 1"/>
          <p:cNvSpPr/>
          <p:nvPr/>
        </p:nvSpPr>
        <p:spPr>
          <a:xfrm>
            <a:off x="457200" y="10972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Smaller-Spend Stores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local assortment suitability and category-level demand.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Examine weekly sales patterns to identify inconsistent performance.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low-cost improvements before wider implementation.</a:t>
            </a:r>
            <a:endParaRPr lang="en-US" sz="1400" dirty="0"/>
          </a:p>
        </p:txBody>
      </p:sp>
      <p:sp>
        <p:nvSpPr>
          <p:cNvPr id="6" name="Rec card 2"/>
          <p:cNvSpPr/>
          <p:nvPr/>
        </p:nvSpPr>
        <p:spPr>
          <a:xfrm>
            <a:off x="3291840" y="10972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/>
        </p:spPr>
      </p:sp>
      <p:sp>
        <p:nvSpPr>
          <p:cNvPr id="7" name="Rec header 2"/>
          <p:cNvSpPr/>
          <p:nvPr/>
        </p:nvSpPr>
        <p:spPr>
          <a:xfrm>
            <a:off x="3291840" y="10972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Larger-Spend Stores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Prioritize high-volume assortment planning.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 changes in product-category sales.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weekly trends to identify shifts in spending behaviour.</a:t>
            </a:r>
            <a:endParaRPr lang="en-US" sz="1400" dirty="0"/>
          </a:p>
        </p:txBody>
      </p:sp>
      <p:sp>
        <p:nvSpPr>
          <p:cNvPr id="9" name="Rec card 3"/>
          <p:cNvSpPr/>
          <p:nvPr/>
        </p:nvSpPr>
        <p:spPr>
          <a:xfrm>
            <a:off x="6126480" y="10972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/>
        </p:spPr>
      </p:sp>
      <p:sp>
        <p:nvSpPr>
          <p:cNvPr id="10" name="Rec header 3"/>
          <p:cNvSpPr/>
          <p:nvPr/>
        </p:nvSpPr>
        <p:spPr>
          <a:xfrm>
            <a:off x="6126480" y="10972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6365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Both Segments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8308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segment-specific performance dashboards.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Validate actions using inventory, margin, price and promotion data.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business KPIs before scaling interventions.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Validation and Limitations</a:t>
            </a:r>
            <a:endParaRPr lang="en-US" sz="3000" dirty="0"/>
          </a:p>
        </p:txBody>
      </p:sp>
      <p:sp>
        <p:nvSpPr>
          <p:cNvPr id="3" name="Validation card 1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0.325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972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Silhouette score for K-Means (k = 2)</a:t>
            </a:r>
            <a:endParaRPr lang="en-US" sz="1300" dirty="0"/>
          </a:p>
        </p:txBody>
      </p:sp>
      <p:sp>
        <p:nvSpPr>
          <p:cNvPr id="6" name="Validation card 2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0.998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2860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Mean Adjusted Rand Index across tested random seeds: stable assignments</a:t>
            </a:r>
            <a:endParaRPr lang="en-US" sz="1300" dirty="0"/>
          </a:p>
        </p:txBody>
      </p:sp>
      <p:sp>
        <p:nvSpPr>
          <p:cNvPr id="9" name="Validation card 3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Unique stores with complete segment assignments</a:t>
            </a:r>
            <a:endParaRPr lang="en-US" sz="1300" dirty="0"/>
          </a:p>
        </p:txBody>
      </p:sp>
      <p:sp>
        <p:nvSpPr>
          <p:cNvPr id="12" name="Limitations card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1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and stockout information was not verified.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Promotion data and store-level selling-price response were not available as verified features.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Profitability and margin cannot be inferred from spend alone.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Clustering identifies patterns but does not establish causal explanations.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2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 project developed a repeatable workflow for transforming transaction data into two interpretable store segments. These segments provide a baseline for targeted analysis, store-level monitoring and future data-driven business decisions.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2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6" name="Future card 1"/>
          <p:cNvSpPr/>
          <p:nvPr/>
        </p:nvSpPr>
        <p:spPr>
          <a:xfrm>
            <a:off x="4937760" y="164592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16365F"/>
          </a:solidFill>
          <a:ln/>
        </p:spPr>
      </p:sp>
      <p:sp>
        <p:nvSpPr>
          <p:cNvPr id="7" name="Number 1"/>
          <p:cNvSpPr/>
          <p:nvPr/>
        </p:nvSpPr>
        <p:spPr>
          <a:xfrm>
            <a:off x="5074920" y="18745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Integrate verified inventory, promotion, price and margin data.</a:t>
            </a:r>
            <a:endParaRPr lang="en-US" sz="1400" dirty="0"/>
          </a:p>
        </p:txBody>
      </p:sp>
      <p:sp>
        <p:nvSpPr>
          <p:cNvPr id="9" name="Future card 2"/>
          <p:cNvSpPr/>
          <p:nvPr/>
        </p:nvSpPr>
        <p:spPr>
          <a:xfrm>
            <a:off x="4937760" y="26517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16365F"/>
          </a:solidFill>
          <a:ln/>
        </p:spPr>
      </p:sp>
      <p:sp>
        <p:nvSpPr>
          <p:cNvPr id="10" name="Number 2"/>
          <p:cNvSpPr/>
          <p:nvPr/>
        </p:nvSpPr>
        <p:spPr>
          <a:xfrm>
            <a:off x="5074920" y="2880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651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Monitor segment changes over time.</a:t>
            </a:r>
            <a:endParaRPr lang="en-US" sz="1400" dirty="0"/>
          </a:p>
        </p:txBody>
      </p:sp>
      <p:sp>
        <p:nvSpPr>
          <p:cNvPr id="12" name="Future card 3"/>
          <p:cNvSpPr/>
          <p:nvPr/>
        </p:nvSpPr>
        <p:spPr>
          <a:xfrm>
            <a:off x="4937760" y="365760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16365F"/>
          </a:solidFill>
          <a:ln/>
        </p:spPr>
      </p:sp>
      <p:sp>
        <p:nvSpPr>
          <p:cNvPr id="13" name="Number 3"/>
          <p:cNvSpPr/>
          <p:nvPr/>
        </p:nvSpPr>
        <p:spPr>
          <a:xfrm>
            <a:off x="5074920" y="38862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657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Test recommendations through controlled pilots and measurable business KPIs.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gmentation Navy">
  <a:themeElements>
    <a:clrScheme name="Segmentation Navy">
      <a:dk1>
        <a:srgbClr val="0B1F3A"/>
      </a:dk1>
      <a:lt1>
        <a:srgbClr val="FFFFFF"/>
      </a:lt1>
      <a:dk2>
        <a:srgbClr val="16365F"/>
      </a:dk2>
      <a:lt2>
        <a:srgbClr val="EAF1F8"/>
      </a:lt2>
      <a:accent1>
        <a:srgbClr val="2563EB"/>
      </a:accent1>
      <a:accent2>
        <a:srgbClr val="0D9488"/>
      </a:accent2>
      <a:accent3>
        <a:srgbClr val="F59E0B"/>
      </a:accent3>
      <a:accent4>
        <a:srgbClr val="5B6B80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Segmentation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960</Words>
  <Application>Microsoft Office PowerPoint</Application>
  <PresentationFormat>On-screen Show (16:9)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Segmentation Navy</vt:lpstr>
      <vt:lpstr>FMCG Retail Store Segmentation Using Clustering</vt:lpstr>
      <vt:lpstr>Executive Summary</vt:lpstr>
      <vt:lpstr>Problem Statement and Objectives</vt:lpstr>
      <vt:lpstr>Dataset Overview and Data Quality</vt:lpstr>
      <vt:lpstr>Methodology Workflow</vt:lpstr>
      <vt:lpstr>Feature Engineering</vt:lpstr>
      <vt:lpstr>Exploratory Analysis: Store Formats</vt:lpstr>
      <vt:lpstr>Clustering Algorithms and Model Selection</vt:lpstr>
      <vt:lpstr>Final Store Segments</vt:lpstr>
      <vt:lpstr>Understanding the Two Segments</vt:lpstr>
      <vt:lpstr>Business Recommendations</vt:lpstr>
      <vt:lpstr>Validation and Limitations</vt:lpstr>
      <vt:lpstr>Conclusion and Future 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FMCG Retail Store Segmentation Using Clustering</dc:title>
  <dc:subject>PptxGenJS Presentation</dc:subject>
  <dc:creator>Kishore Sankar G</dc:creator>
  <cp:lastModifiedBy>Kishore Sankar</cp:lastModifiedBy>
  <cp:revision>4</cp:revision>
  <dcterms:created xsi:type="dcterms:W3CDTF">2026-10-23T16:22:50Z</dcterms:created>
  <dcterms:modified xsi:type="dcterms:W3CDTF">2026-10-28T10:16:52Z</dcterms:modified>
</cp:coreProperties>
</file>